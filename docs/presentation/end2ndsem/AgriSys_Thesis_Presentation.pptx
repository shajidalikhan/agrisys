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75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a Next-Generation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Expert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Conversational Approach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5760720" cy="0"/>
          </a:xfrm>
          <a:prstGeom prst="line">
            <a:avLst/>
          </a:prstGeom>
          <a:noFill/>
          <a:ln w="9525">
            <a:solidFill>
              <a:srgbClr val="3344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803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· Precision Agriculture · NLP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127248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Multi-crop India · Web platform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Shajid Ali Khan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(MCS25049)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457200"/>
            <a:ext cx="2011680" cy="1325880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594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146M+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766560" y="1170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in India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965960"/>
            <a:ext cx="2011680" cy="1325880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103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₹1.5L cr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26791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crop loss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&amp; poor advisory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3474720"/>
            <a:ext cx="2011680" cy="1325880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41879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with access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agronomist advice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 / 10</a:t>
            </a:r>
            <a:endParaRPr lang="en-US" sz="9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3A7408D0-E992-63C1-3DA1-BCD390D684C6}"/>
              </a:ext>
            </a:extLst>
          </p:cNvPr>
          <p:cNvSpPr/>
          <p:nvPr/>
        </p:nvSpPr>
        <p:spPr>
          <a:xfrm>
            <a:off x="420624" y="41376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Information Technology, Lucknow</a:t>
            </a:r>
            <a:endParaRPr lang="en-US" sz="17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F979B2C3-960E-1F40-94E0-7EF2D065154B}"/>
              </a:ext>
            </a:extLst>
          </p:cNvPr>
          <p:cNvSpPr/>
          <p:nvPr/>
        </p:nvSpPr>
        <p:spPr>
          <a:xfrm>
            <a:off x="365760" y="3703320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Deepak Kumar Singh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agricultural advisory crisis in India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systems fail the 146 million farmers who need them most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347472"/>
            <a:ext cx="1371600" cy="237744"/>
          </a:xfrm>
          <a:prstGeom prst="roundRect">
            <a:avLst>
              <a:gd name="adj" fmla="val 38462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 has 1 agricultural extension worker per 1,000+ farmers — advice is inaccessible at scale  (ICAR, 2023)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078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Crop disease is the leading cause of yield loss; most farmers diagnose by eye, often too late  (FAO, 2022)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1810512"/>
            <a:ext cx="91440" cy="914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2140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Soil nutrient deficiencies cost 20–30% of potential yield, yet soil testing adoption is &lt;15%  (NABARD, 2023)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231136"/>
            <a:ext cx="91440" cy="914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4203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Mandi price information asymmetry causes farmers to sell 30–40% below optimal price  (eNAM, 2023)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651760"/>
            <a:ext cx="91440" cy="914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6265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Existing AI tools are English-only, text-only, or require stable internet — excluding most users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072384"/>
            <a:ext cx="91440" cy="914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0" y="1234440"/>
            <a:ext cx="3291840" cy="169164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2984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offer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24/7 voice advisory in Hindi &amp; regional languages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190195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Instant leaf-image disease diagnosis + XAI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15000" y="22219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Soil-sensor nutrition recommendations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25420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mandi price advisory with sell/hold guidance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3017520"/>
            <a:ext cx="3291840" cy="1645920"/>
          </a:xfrm>
          <a:prstGeom prst="rect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0815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33649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LLMs (GPT-4o, Gemini 1.5) ready for domain advisory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36758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VLMs achieve &gt;90% on PlantVillage disease datasets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39867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Bhashini API enables 10+ Indic language ASR/TTS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4297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RAG eliminates hallucination in knowledge-grounded advisory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of prior research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research streams this thesis builds upon and extends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347472"/>
            <a:ext cx="1371600" cy="237744"/>
          </a:xfrm>
          <a:prstGeom prst="roundRect">
            <a:avLst>
              <a:gd name="adj" fmla="val 3846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RELATED WORK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137160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457200" cy="13716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3075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conversational 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581912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MIRAGE (2025) · AgMMU benchmark · Farmer.Chat (ACM 2024)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Benchmarks &amp; deployed systems; lack unified advisory in one session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51760" cy="1371600"/>
          </a:xfrm>
          <a:prstGeom prst="rect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34440"/>
            <a:ext cx="457200" cy="13716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3444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76472" y="13075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RAG for farm advisory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76472" y="1581912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AgroLLM · AgriLLM · J. Agri. Engineering RAG (2026)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Strong text-only RAG accuracy; no image or voice modality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51760" cy="1371600"/>
          </a:xfrm>
          <a:prstGeom prst="rect">
            <a:avLst/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234440"/>
            <a:ext cx="457200" cy="137160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23444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65392" y="13075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for plant disease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65392" y="1581912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LLMI-CDP (Sci. Reports 2025) · AgriChain · Self-consistency VLMs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91–94% leaf accuracy; no farmer-facing conversational UI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2651760" cy="1371600"/>
          </a:xfrm>
          <a:prstGeom prst="rect">
            <a:avLst/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43200"/>
            <a:ext cx="457200" cy="13716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4320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" y="28163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 agriculture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3090672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XAI-CROP (Springer NCA 2024) · Grad-CAM plant disease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XAI per task in isolation; never surfaced to farmers conversationally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2743200"/>
            <a:ext cx="2651760" cy="1371600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743200"/>
            <a:ext cx="457200" cy="13716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74320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76472" y="28163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multilingual NLP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76472" y="3090672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ASR benchmark (arXiv 2025) · IndicBERT · Bhashini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Voice interfaces exist; not connected to agronomic advisory end-to-end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2743200"/>
            <a:ext cx="2651760" cy="137160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2743200"/>
            <a:ext cx="457200" cy="13716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274320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65392" y="28163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&amp; expert systems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65392" y="3090672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CropiBot (Sci. Reports 2026) · Transformer survey (EAAI 2024)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Single-agent chatbots; lack specialist routing &amp; cross-modal fusion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existing system has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specific gaps identified across the literature survey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347472"/>
            <a:ext cx="1371600" cy="237744"/>
          </a:xfrm>
          <a:prstGeom prst="roundRect">
            <a:avLst>
              <a:gd name="adj" fmla="val 38462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GAP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841248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07008"/>
            <a:ext cx="502920" cy="71323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0700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2618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multimodal advisory session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24128" y="153619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 disease diagnosis (image), nutrition advisory (sensor), crop recommendation, weather, and live market data in one conversational turn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8412480" cy="713232"/>
          </a:xfrm>
          <a:prstGeom prst="rect">
            <a:avLst/>
          </a:prstGeom>
          <a:solidFill>
            <a:srgbClr val="FB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75104"/>
            <a:ext cx="502920" cy="71323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7510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0299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cross-modal sensor–image nutrition fusion in a dialogue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24128" y="230428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papers work offline; no conversational interface wraps leaf image + soil NPK data for farmer-facing nutrition advice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41248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43200"/>
            <a:ext cx="502920" cy="71323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432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279806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not rendered to farmer in any system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24128" y="307238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XAI-CROP and LLMI-CDP generate SHAP/Grad-CAM as research output — never surfaced as a visual explanation to the farmer in a web UI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11296"/>
            <a:ext cx="8412480" cy="713232"/>
          </a:xfrm>
          <a:prstGeom prst="rect">
            <a:avLst/>
          </a:prstGeom>
          <a:solidFill>
            <a:srgbClr val="FB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11296"/>
            <a:ext cx="502920" cy="71323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1129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35661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end-to-end Indic voice-to-advisory pipeline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24128" y="384048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ASR benchmark achieves WER 16% for Hindi, but no system connects it to an agronomic RAG advisory backend with TTS response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79392"/>
            <a:ext cx="841248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279392"/>
            <a:ext cx="502920" cy="71323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939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433425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mandi price never co-delivered with agronomic advice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24128" y="460857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agents and agronomic agents exist in silos across all surveyed literature — no system answers both in the same conversational response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0" y="347472"/>
            <a:ext cx="1371600" cy="237744"/>
          </a:xfrm>
          <a:prstGeom prst="roundRect">
            <a:avLst>
              <a:gd name="adj" fmla="val 38462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412480" cy="1143000"/>
          </a:xfrm>
          <a:prstGeom prst="rect">
            <a:avLst/>
          </a:prstGeom>
          <a:solidFill>
            <a:srgbClr val="F8F7FF"/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11430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9728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smallholder farmers face simultaneous, interdependent challenges — crop disease, nutrient deficiency, uncertain crop selection, irrigation, and price realisation — that no single AI model addresses. Existing expert systems are text-only, single-agent, single-language, and non-explainable. No current system accepts voice in Hindi, diagnoses disease from leaf images, integrates soil sensor data, and advises on live mandi prices within a single conversational turn — with explanations grounded in verified agronomic knowledge sources.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069080" cy="2606040"/>
          </a:xfrm>
          <a:prstGeom prst="rect">
            <a:avLst/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to overcome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70662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Modality heterogeneity — voice, image, text, sensor, price are structurally different inputs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Domain depth — agriculture needs expert-level, crop- and region-specific knowledge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5478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Hallucination risk — LLMs fabricate crop-care advice with dangerous confidence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9684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Language barrier — Indic ASR accuracy still sub-optimal for agricultural vocabulary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389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Trust — farmers reject advice they cannot understand or verify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069080" cy="2606040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constraints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70662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Must work on commodity Android device + 3G connection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1272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Response time &lt; 4 seconds (cloud) · &lt; 8 seconds (PWA offline cache)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5478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Knowledge grounded exclusively in ICAR, FAO, CGIAR verified sources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9684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Explainability must be farmer-readable — visual, not numerical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4389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Multi-crop: wheat, rice, maize, cotton, tomato, potato + more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measurable objectives mapping to identified research gaps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0" y="347472"/>
            <a:ext cx="1371600" cy="237744"/>
          </a:xfrm>
          <a:prstGeom prst="roundRect">
            <a:avLst>
              <a:gd name="adj" fmla="val 38462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OBJECTIVES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160520" cy="841248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0" cy="8412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70432" y="1289304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LangGraph multi-agent orchestrator — intent classifier, parallel dispatch, Redis multi-turn memory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160520" cy="841248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34440"/>
            <a:ext cx="640080" cy="84124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3444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72821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68112" y="1289304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ViT-L/16 + LoRA on PlantVillage/PlantDoc/IP102 — &gt;90% top-1 accuracy, 200+ diseases, 50+ crops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4160520" cy="841248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194560"/>
            <a:ext cx="640080" cy="84124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19456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68833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70432" y="2249424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MLP fusing ResNet-50 leaf features with NPK/pH/EC sensor data — fertiliser dose recommendation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160520" cy="841248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194560"/>
            <a:ext cx="640080" cy="8412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9456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268833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68112" y="2249424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Hallucination-resistant RAG: 250k+ ICAR/FAO chunks in Qdrant, hybrid BM25+dense, LLM-as-judge confidence gating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4160520" cy="841248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154680"/>
            <a:ext cx="640080" cy="84124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546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64845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170432" y="3209544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Grad-CAM heatmaps (disease) and SHAP bar charts (crop rec) in React PWA — farmer-facing, not research output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154680"/>
            <a:ext cx="4160520" cy="841248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154680"/>
            <a:ext cx="640080" cy="84124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1546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364845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468112" y="3209544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 (Indic fine-tuned) ASR → Bhashini TTS — WER &lt;20% Hindi, &lt;30% regional, end-to-end &lt;4s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4160520" cy="841248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114800"/>
            <a:ext cx="640080" cy="841248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11480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60857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70432" y="4169664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+ eNAM live pull (15-min), Prophet 7-day forecast — sell/hold/transport advisory co-delivered with agronomy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114800"/>
            <a:ext cx="4160520" cy="841248"/>
          </a:xfrm>
          <a:prstGeom prst="rect">
            <a:avLst/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4114800"/>
            <a:ext cx="640080" cy="8412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11480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754880" y="460857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468112" y="4169664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on MIRAGE, AgMMU; validate with 10 ICAR-certified agronomists on 200 real farmer queries (Likert ≥4.0/5.0)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approach — six-layer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addresses specific research objectives and gaps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0" y="347472"/>
            <a:ext cx="1371600" cy="237744"/>
          </a:xfrm>
          <a:prstGeom prst="roundRect">
            <a:avLst>
              <a:gd name="adj" fmla="val 38462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APPROACH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8412480" cy="576072"/>
          </a:xfrm>
          <a:prstGeom prst="rect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07008"/>
            <a:ext cx="1325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Input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20240" y="1280160"/>
            <a:ext cx="0" cy="429768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207008"/>
            <a:ext cx="6675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Voice (Whisper ASR) · Image (leaf/field) · Sensor (NPK/pH) · Live price (Agmarknet/eNAM)  ·  10 Indic languages via Bhashini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8412480" cy="576072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56232"/>
            <a:ext cx="1325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Preprocess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20240" y="1929384"/>
            <a:ext cx="0" cy="429768"/>
          </a:xfrm>
          <a:prstGeom prst="line">
            <a:avLst/>
          </a:prstGeom>
          <a:noFill/>
          <a:ln w="635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856232"/>
            <a:ext cx="6675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ASR → Hindi norm · Image QA (BRISQUE) + 448×448 resize · Sensor calibration · Price anomaly filter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8412480" cy="576072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05456"/>
            <a:ext cx="1325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Orchestrator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20240" y="2578608"/>
            <a:ext cx="0" cy="429768"/>
          </a:xfrm>
          <a:prstGeom prst="line">
            <a:avLst/>
          </a:prstGeom>
          <a:noFill/>
          <a:ln w="635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2505456"/>
            <a:ext cx="6675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backbone + fine-tuned BERT intent classifier · LangGraph parallel dispatch · Redis session memory · confidence-gated response merge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412480" cy="576072"/>
          </a:xfrm>
          <a:prstGeom prst="rect">
            <a:avLst/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54680"/>
            <a:ext cx="1325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Agents ×5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20240" y="3227832"/>
            <a:ext cx="0" cy="429768"/>
          </a:xfrm>
          <a:prstGeom prst="line">
            <a:avLst/>
          </a:prstGeom>
          <a:noFill/>
          <a:ln w="6350">
            <a:solidFill>
              <a:srgbClr val="993C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154680"/>
            <a:ext cx="6675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[Disease: ViT-L LoRA + Grad-CAM]  [Nutrition: ResNet-50 + sensor MLP + SHAP]  [Crop: XGBoost + SHAP]  [Weather: LSTM + IMD]  [Market: Agmarknet + Prophet]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03904"/>
            <a:ext cx="8412480" cy="576072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03904"/>
            <a:ext cx="1325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Knowledge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20240" y="3877056"/>
            <a:ext cx="0" cy="429768"/>
          </a:xfrm>
          <a:prstGeom prst="line">
            <a:avLst/>
          </a:prstGeom>
          <a:noFill/>
          <a:ln w="6350">
            <a:solidFill>
              <a:srgbClr val="3B6D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3803904"/>
            <a:ext cx="6675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E5-large embeddings · Qdrant vector store · Hybrid BM25+dense · Cross-encoder rerank · HyDE query expand · Qwen3 LLM-as-judge · 250k+ ICAR/FAO/CGIAR chunks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453128"/>
            <a:ext cx="8412480" cy="576072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453128"/>
            <a:ext cx="1325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· Output + XAI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920240" y="4526280"/>
            <a:ext cx="0" cy="429768"/>
          </a:xfrm>
          <a:prstGeom prst="line">
            <a:avLst/>
          </a:prstGeom>
          <a:noFill/>
          <a:ln w="6350">
            <a:solidFill>
              <a:srgbClr val="185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4453128"/>
            <a:ext cx="6675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PWA · Grad-CAM overlay on leaf image · SHAP charts · Bhashini TTS Hindi/regional · District map · Price trend chart · FastAPI WebSocket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metrics per component before claiming contribution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0" y="347472"/>
            <a:ext cx="1371600" cy="237744"/>
          </a:xfrm>
          <a:prstGeom prst="roundRect">
            <a:avLst>
              <a:gd name="adj" fmla="val 38462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EVALUATION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1783080"/>
          </a:xfrm>
          <a:prstGeom prst="rect">
            <a:avLst/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8016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diagnostic (O2)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572768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PlantVillage test + PlantDoc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90195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Top-1 Acc · F1 macro · AUC-ROC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231136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&gt;90% top-1 · 200+ diseases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560320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Grad-CAM IoU vs. expert annotation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0128" y="1188720"/>
            <a:ext cx="2743200" cy="1783080"/>
          </a:xfrm>
          <a:prstGeom prst="rect">
            <a:avLst/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28016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agent (O3)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9856" y="1572768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ICAR soil health card DB + synthetic sensor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19856" y="190195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RMSE on fertiliser dose · F1 deficiency class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19856" y="2231136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RMSE &lt;5 kg/ha · F1 &gt;0.85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19856" y="2560320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SHAP stability score across runs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63056" y="1188720"/>
            <a:ext cx="2743200" cy="1783080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8016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 (O4)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72784" y="1572768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ICRISAT district yield + IMD climate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72784" y="190195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Top-3 Acc · agronomist agreement 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72784" y="2231136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Top-3 acc &gt;85% · agreement &gt;80%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72784" y="2560320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SHAP feature rank correlation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2743200" cy="178308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20040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quality (O4)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3493008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RAGAS evaluation suite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382219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Faithfulness · context relevance · answer rel.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4151376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Faithfulness &gt;0.88 · hallucination &lt;5%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" y="4480560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MIRAGE · AgMMU eval sets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10128" y="3108960"/>
            <a:ext cx="2743200" cy="178308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9856" y="320040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/ voice pipeline (O6)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19856" y="3493008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Indic ASR benchmark (10,934 recordings)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19856" y="382219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WER per language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19856" y="4151376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WER &lt;20% Hindi · &lt;30% Indic regional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19856" y="4480560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voice → response latency &lt;4 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63056" y="3108960"/>
            <a:ext cx="2743200" cy="1783080"/>
          </a:xfrm>
          <a:prstGeom prst="rect">
            <a:avLst/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20040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agronomist panel (O8)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72784" y="3493008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Panel: 10 ICAR-certified agronomists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72784" y="3822192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5-point Likert correctness + clarity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72784" y="4151376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Mean correctness &gt;4.0 / 5.0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72784" y="4480560"/>
            <a:ext cx="2542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eval: 200 real farmer queries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5-agent vs. single-agent baseline · RAG vs. no-RAG · XAI rendered vs. not · voice vs. text-only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contributions &amp; timeline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novel contributions over prior art — and the 12-month delivery plan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040880" y="274320"/>
            <a:ext cx="1371600" cy="237744"/>
          </a:xfrm>
          <a:prstGeom prst="roundRect">
            <a:avLst>
              <a:gd name="adj" fmla="val 3846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274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CONTRIBUTIONS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6217920" cy="621792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029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" y="1143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multi-agent system routing to five specialist domain models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33272" y="1426464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G1 · novel over: Farmer.Chat, AgroLLM, CropiBot (all single-model)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6217920" cy="621792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01368"/>
            <a:ext cx="5029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0136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3272" y="184708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leaf image + soil sensor fusion for nutrition in a dialogue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33272" y="213055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G2 · novel over: all surveyed nutrition papers (offline inference only)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6217920" cy="621792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05456"/>
            <a:ext cx="5029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0545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" y="255117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Farmer-facing Grad-CAM heatmaps and SHAP charts rendered in web UI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33272" y="283464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G3 · novel over: XAI-CROP (Springer), LLMI-CDP — both log XAI internally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09544"/>
            <a:ext cx="6217920" cy="621792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09544"/>
            <a:ext cx="5029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954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" y="325526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Indic voice pipeline: Whisper ASR → Hindi RAG → Bhashini TTS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33272" y="353872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G4 · novel over: Indic ASR benchmark paper (no advisory backend)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913632"/>
            <a:ext cx="6217920" cy="621792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13632"/>
            <a:ext cx="5029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1363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3272" y="39593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mandi price co-delivered with agronomic advice in one conversational turn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33272" y="424281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G5 · novel over: all surveyed papers — no prior system attempts this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03720" y="1097280"/>
            <a:ext cx="1920240" cy="621792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2008" y="113385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22008" y="137160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1801368"/>
            <a:ext cx="1920240" cy="621792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183794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M4–6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22008" y="2075688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Fusion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ASR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03720" y="2505456"/>
            <a:ext cx="1920240" cy="621792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2542032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22008" y="2779776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PWA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3209544"/>
            <a:ext cx="1920240" cy="621792"/>
          </a:xfrm>
          <a:prstGeom prst="rect">
            <a:avLst/>
          </a:prstGeom>
          <a:solidFill>
            <a:srgbClr val="132535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2008" y="3246120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M10–12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22008" y="3483864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panel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writing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 cited in this research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0" y="347472"/>
            <a:ext cx="1371600" cy="237744"/>
          </a:xfrm>
          <a:prstGeom prst="roundRect">
            <a:avLst>
              <a:gd name="adj" fmla="val 38462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REFERENCES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MIRAGE: A Benchmark for Multimodal Information-Seeking and Reasoning in Agricultural Expert-Guided Conversations. arXiv, 2025.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 Multimodal Conversational Assistant for Agricultural Plots from Geospatial Open Data. arXiv, 2025.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762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AgMMU: Agricultural Multimodal Understanding and Reasoning Benchmark. arXiv, April 2025.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6090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Farmer.Chat: Scaling AI-Powered Agricultural Services for Smallholder Farmers. ACM, 2024. arXiv:2409.08916.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4553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LLMI-CDP: A Large Language Model for Multimodal Identification of Crop Diseases and Pests. Scientific Reports (Nature), 2025.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630168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3016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AgriChain: Visually-Grounded Expert-Verified Reasoning for Agricultural VLMs. arXiv, 2025.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Enhancing Crop Recommendation with XAI (XAI-CROP). Neural Computing and Applications, Springer, 2024.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599432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994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RAG-Based LLM Advisory Framework for Farmers. Journal of Agricultural Engineering, 2026.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5084064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20700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Agentic AI-Driven Autonomous Decision Support System for Smart Agriculture (CropiBot). Scientific Reports, 2026.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691640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6916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Benchmarking ASR for Indian Languages in Agricultural Contexts. arXiv, 2025.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176272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1762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Harnessing Large Vision and Language Models in Agriculture: A Review. Frontiers in Plant Science, 2025.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660904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66090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Recent Advances in Transformer Technology for Agriculture: A Survey. Engineering Applications of AI, Elsevier, 2024.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145536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14553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Self-Consistency in VLMs for Precision Agriculture. arXiv, 2025.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630168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63016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Overcoming LLM Challenges using RAG-Driven Precision in Coffee Leaf Disease Remediation. IEEE Conference, 2024.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4114800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114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Deep Learning and Computer Vision in Plant Disease Detection. Artificial Intelligence Review, Springer, 2025.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599432"/>
            <a:ext cx="40690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2062</Words>
  <Application>Microsoft Office PowerPoint</Application>
  <PresentationFormat>On-screen Show (16:9)</PresentationFormat>
  <Paragraphs>244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a Next-Generation Agricultural Expert System</dc:title>
  <dc:subject>PptxGenJS Presentation</dc:subject>
  <dc:creator>AgriSys Thesis</dc:creator>
  <cp:lastModifiedBy>shajid khan</cp:lastModifiedBy>
  <cp:revision>2</cp:revision>
  <dcterms:created xsi:type="dcterms:W3CDTF">2026-05-28T09:15:39Z</dcterms:created>
  <dcterms:modified xsi:type="dcterms:W3CDTF">2026-05-28T14:27:10Z</dcterms:modified>
</cp:coreProperties>
</file>